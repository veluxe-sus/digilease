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5200" b="0" i="0">
                <a:solidFill>
                  <a:srgbClr val="F2EFEA"/>
                </a:solidFill>
                <a:latin typeface="Cambria"/>
              </a:rPr>
              <a:t>An ambulance is two minutes away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0" i="0">
                <a:solidFill>
                  <a:srgbClr val="F2EFEA"/>
                </a:solidFill>
                <a:latin typeface="Cambria"/>
              </a:rPr>
              <a:t>and still cannot find the door.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9204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958C"/>
                </a:solidFill>
                <a:latin typeface="Calibri"/>
              </a:rPr>
              <a:t>Indian addresses describe a neighbourhood. They do not locate a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5332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EFEA"/>
                </a:solidFill>
                <a:latin typeface="Calibri"/>
              </a:rPr>
              <a:t>DigiLease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6053328"/>
            <a:ext cx="4830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635F59"/>
                </a:solidFill>
                <a:latin typeface="Calibri"/>
              </a:rPr>
              <a:t>Built on India Post's DIGIPIN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02 /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India already built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5577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EF9E6E"/>
                </a:solidFill>
                <a:latin typeface="Consolas"/>
              </a:rPr>
              <a:t>India Post  ·  27 May 2025  ·  Apache 2.0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9A958C"/>
                </a:solidFill>
                <a:latin typeface="Calibri"/>
              </a:rPr>
              <a:t>Built with IIT Hyderabad and ISRO NRSC.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 i="0">
                <a:solidFill>
                  <a:srgbClr val="F2EFEA"/>
                </a:solidFill>
                <a:latin typeface="Calibri"/>
              </a:rPr>
              <a:t>Ten characters name every 3.8 m square in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2395728"/>
            <a:ext cx="4507992" cy="224028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264261" bIns="264261"/>
          <a:lstStyle/>
          <a:p>
            <a:pPr algn="l">
              <a:spcAft>
                <a:spcPts val="140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DIGIPIN</a:t>
            </a:r>
          </a:p>
          <a:p>
            <a:pPr algn="l">
              <a:spcAft>
                <a:spcPts val="1200"/>
              </a:spcAft>
            </a:pPr>
            <a:r>
              <a:rPr sz="3000" b="1" i="0">
                <a:solidFill>
                  <a:srgbClr val="F2EFEA"/>
                </a:solidFill>
                <a:latin typeface="Consolas"/>
              </a:rPr>
              <a:t>4P3 KCJ6 T8P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958C"/>
                </a:solidFill>
                <a:latin typeface="Calibri"/>
              </a:rPr>
              <a:t>One 3.8 m square. Offline-derivable. No lookup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35F59"/>
                </a:solidFill>
                <a:latin typeface="Calibri"/>
              </a:rPr>
              <a:t>Not a company's format. India's own, open source, free for anyone to build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03 /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But you still cannot share it safely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95728"/>
            <a:ext cx="10637215" cy="1133856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274320" tIns="201168" bIns="201168"/>
          <a:lstStyle/>
          <a:p>
            <a:pPr algn="l">
              <a:spcAft>
                <a:spcPts val="700"/>
              </a:spcAft>
            </a:pPr>
            <a:r>
              <a:rPr sz="1000" b="1" i="0" spc="160">
                <a:solidFill>
                  <a:srgbClr val="E07A3F"/>
                </a:solidFill>
                <a:latin typeface="Consolas"/>
              </a:rPr>
              <a:t>ROADMAP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9A958C"/>
                </a:solidFill>
                <a:latin typeface="Calibri"/>
              </a:rPr>
              <a:t>India Post's roadmap, DHRUVA, describes a consent-based address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657600"/>
            <a:ext cx="10637215" cy="1133856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274320" tIns="201168" bIns="201168"/>
          <a:lstStyle/>
          <a:p>
            <a:pPr algn="l">
              <a:spcAft>
                <a:spcPts val="700"/>
              </a:spcAft>
            </a:pPr>
            <a:r>
              <a:rPr sz="1000" b="1" i="0" spc="160">
                <a:solidFill>
                  <a:srgbClr val="E07A3F"/>
                </a:solidFill>
                <a:latin typeface="Consolas"/>
              </a:rPr>
              <a:t>TODAY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9A958C"/>
                </a:solidFill>
                <a:latin typeface="Calibri"/>
              </a:rPr>
              <a:t>The converter exists. The consent layer does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919472"/>
            <a:ext cx="10637215" cy="1133856"/>
          </a:xfrm>
          <a:prstGeom prst="roundRect">
            <a:avLst>
              <a:gd name="adj" fmla="val 3500"/>
            </a:avLst>
          </a:prstGeom>
          <a:solidFill>
            <a:srgbClr val="1C1511"/>
          </a:solidFill>
          <a:ln w="9525">
            <a:solidFill>
              <a:srgbClr val="5A3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274320" tIns="201168" bIns="201168"/>
          <a:lstStyle/>
          <a:p>
            <a:pPr algn="l">
              <a:spcAft>
                <a:spcPts val="700"/>
              </a:spcAft>
            </a:pPr>
            <a:r>
              <a:rPr sz="1000" b="1" i="0" spc="160">
                <a:solidFill>
                  <a:srgbClr val="E07A3F"/>
                </a:solidFill>
                <a:latin typeface="Consolas"/>
              </a:rPr>
              <a:t>THIS BUILD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2EFEA"/>
                </a:solidFill>
                <a:latin typeface="Calibri"/>
              </a:rPr>
              <a:t>That is exactly what we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04 / DIGILEASE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7791" y="457200"/>
            <a:ext cx="3026664" cy="347472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9525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 spc="60">
                <a:solidFill>
                  <a:srgbClr val="0B0B0C"/>
                </a:solidFill>
                <a:latin typeface="Calibri"/>
              </a:rPr>
              <a:t>LIVE  —  open the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8778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5000" b="0" i="0">
                <a:solidFill>
                  <a:srgbClr val="F2EFEA"/>
                </a:solidFill>
                <a:latin typeface="Cambria"/>
              </a:rPr>
              <a:t>An address you can hand over,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5000" b="0" i="0">
                <a:solidFill>
                  <a:srgbClr val="EF9E6E"/>
                </a:solidFill>
                <a:latin typeface="Cambria"/>
              </a:rPr>
              <a:t>and take 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343400"/>
            <a:ext cx="2564892" cy="512064"/>
          </a:xfrm>
          <a:prstGeom prst="roundRect">
            <a:avLst>
              <a:gd name="adj" fmla="val 500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2EFEA"/>
                </a:solidFill>
                <a:latin typeface="Calibri"/>
              </a:rPr>
              <a:t>One link per person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3300" y="4343400"/>
            <a:ext cx="1303020" cy="512064"/>
          </a:xfrm>
          <a:prstGeom prst="roundRect">
            <a:avLst>
              <a:gd name="adj" fmla="val 500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2EFEA"/>
                </a:solidFill>
                <a:latin typeface="Calibri"/>
              </a:rPr>
              <a:t>Expires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4343400"/>
            <a:ext cx="1513332" cy="512064"/>
          </a:xfrm>
          <a:prstGeom prst="roundRect">
            <a:avLst>
              <a:gd name="adj" fmla="val 500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2EFEA"/>
                </a:solidFill>
                <a:latin typeface="Calibri"/>
              </a:rPr>
              <a:t>Revocable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1988" y="4343400"/>
            <a:ext cx="1933956" cy="512064"/>
          </a:xfrm>
          <a:prstGeom prst="roundRect">
            <a:avLst>
              <a:gd name="adj" fmla="val 500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2EFEA"/>
                </a:solidFill>
                <a:latin typeface="Calibri"/>
              </a:rPr>
              <a:t>Works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35F59"/>
                </a:solidFill>
                <a:latin typeface="Calibri"/>
              </a:rPr>
              <a:t>One card for the door. Many links out of it — each one yours to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05 / CREATE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57639" y="457200"/>
            <a:ext cx="1956816" cy="347472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9525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 spc="60">
                <a:solidFill>
                  <a:srgbClr val="0B0B0C"/>
                </a:solidFill>
                <a:latin typeface="Calibri"/>
              </a:rPr>
              <a:t>LIVE  —  /new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Make a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3375050" cy="233172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48716" bIns="248716"/>
          <a:lstStyle/>
          <a:p>
            <a:pPr algn="l">
              <a:spcAft>
                <a:spcPts val="1600"/>
              </a:spcAft>
            </a:pPr>
            <a:r>
              <a:rPr sz="1100" b="1" i="0" spc="120">
                <a:solidFill>
                  <a:srgbClr val="E07A3F"/>
                </a:solidFill>
                <a:latin typeface="Consolas"/>
              </a:rPr>
              <a:t>01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F2EFEA"/>
                </a:solidFill>
                <a:latin typeface="Calibri"/>
              </a:rPr>
              <a:t>Drop a pin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9A958C"/>
                </a:solidFill>
                <a:latin typeface="Calibri"/>
              </a:rPr>
              <a:t>Move the pin onto your actual door. The DIGIPIN updates live underneath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8322" y="2514600"/>
            <a:ext cx="3375050" cy="233172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48716" bIns="248716"/>
          <a:lstStyle/>
          <a:p>
            <a:pPr algn="l">
              <a:spcAft>
                <a:spcPts val="1600"/>
              </a:spcAft>
            </a:pPr>
            <a:r>
              <a:rPr sz="1100" b="1" i="0" spc="120">
                <a:solidFill>
                  <a:srgbClr val="E07A3F"/>
                </a:solidFill>
                <a:latin typeface="Consolas"/>
              </a:rPr>
              <a:t>02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F2EFEA"/>
                </a:solidFill>
                <a:latin typeface="Calibri"/>
              </a:rPr>
              <a:t>Add the landmark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9A958C"/>
                </a:solidFill>
                <a:latin typeface="Calibri"/>
              </a:rPr>
              <a:t>The marker a rider actually sees from the road. Blue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9404" y="2514600"/>
            <a:ext cx="3375050" cy="233172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48716" bIns="248716"/>
          <a:lstStyle/>
          <a:p>
            <a:pPr algn="l">
              <a:spcAft>
                <a:spcPts val="1600"/>
              </a:spcAft>
            </a:pPr>
            <a:r>
              <a:rPr sz="1100" b="1" i="0" spc="120">
                <a:solidFill>
                  <a:srgbClr val="E07A3F"/>
                </a:solidFill>
                <a:latin typeface="Consolas"/>
              </a:rPr>
              <a:t>03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F2EFEA"/>
                </a:solidFill>
                <a:latin typeface="Calibri"/>
              </a:rPr>
              <a:t>Add a photo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9A958C"/>
                </a:solidFill>
                <a:latin typeface="Calibri"/>
              </a:rPr>
              <a:t>One photo of the gate, kept in a private bucket.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35F59"/>
                </a:solidFill>
                <a:latin typeface="Calibri"/>
              </a:rPr>
              <a:t>The server computes the DIGIPIN. A code sent from the browser is never trusted.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06 / CONSENT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68919" y="457200"/>
            <a:ext cx="3145536" cy="347472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9525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 spc="60">
                <a:solidFill>
                  <a:srgbClr val="0B0B0C"/>
                </a:solidFill>
                <a:latin typeface="Calibri"/>
              </a:rPr>
              <a:t>LIVE  —  create a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One link per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200" b="0" i="0">
                <a:solidFill>
                  <a:srgbClr val="F2EFEA"/>
                </a:solidFill>
                <a:latin typeface="Calibri"/>
              </a:rPr>
              <a:t>Label it. Choose how long it lasts.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A958C"/>
                </a:solidFill>
                <a:latin typeface="Calibri"/>
              </a:rPr>
              <a:t>Every receiver gets their own link, so you always know who opened which one — and ending one never touches the others.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50592"/>
            <a:ext cx="4507992" cy="2487168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264261" bIns="264261"/>
          <a:lstStyle/>
          <a:p>
            <a:pPr algn="l">
              <a:spcAft>
                <a:spcPts val="1600"/>
              </a:spcAft>
            </a:pPr>
            <a:r>
              <a:rPr sz="1000" b="1" i="0" spc="160">
                <a:solidFill>
                  <a:srgbClr val="E07A3F"/>
                </a:solidFill>
                <a:latin typeface="Consolas"/>
              </a:rPr>
              <a:t>ACTIVE SHARE</a:t>
            </a:r>
          </a:p>
          <a:p>
            <a:pPr algn="l">
              <a:spcAft>
                <a:spcPts val="1600"/>
              </a:spcAft>
            </a:pPr>
            <a:r>
              <a:rPr sz="2600" b="1" i="0">
                <a:solidFill>
                  <a:srgbClr val="F2EFEA"/>
                </a:solidFill>
                <a:latin typeface="Calibri"/>
              </a:rPr>
              <a:t>Flipkart Delivery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9A958C"/>
                </a:solidFill>
                <a:latin typeface="Calibri"/>
              </a:rPr>
              <a:t>Expires in 72 hours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F9E6E"/>
                </a:solidFill>
                <a:latin typeface="Consolas"/>
              </a:rPr>
              <a:t>/s/9f3c4a2b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35F59"/>
                </a:solidFill>
                <a:latin typeface="Calibri"/>
              </a:rPr>
              <a:t>Opened 3 times · Last opened 19:37 · Ends automatically at 23 Sep 19:37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07 / THE RECEIVER</a:t>
            </a:r>
          </a:p>
        </p:txBody>
      </p:sp>
      <p:pic>
        <p:nvPicPr>
          <p:cNvPr id="3" name="Picture 2" descr="WhatsApp Image 2026-09-20 at 7.56.39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70432"/>
            <a:ext cx="2370331" cy="5138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33370" y="1417320"/>
            <a:ext cx="75810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What the receiver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3370" y="2788920"/>
            <a:ext cx="75810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2EFEA"/>
                </a:solidFill>
                <a:latin typeface="Calibri"/>
              </a:rPr>
              <a:t>No app. No account.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958C"/>
                </a:solidFill>
                <a:latin typeface="Calibri"/>
              </a:rPr>
              <a:t>The link opens in whatever browser they already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3370" y="3867911"/>
            <a:ext cx="75810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2EFEA"/>
                </a:solidFill>
                <a:latin typeface="Calibri"/>
              </a:rPr>
              <a:t>The door, the landmark, the DIGIPIN.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958C"/>
                </a:solidFill>
                <a:latin typeface="Calibri"/>
              </a:rPr>
              <a:t>Copyable code, the gate photo, the marker they will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3370" y="4946903"/>
            <a:ext cx="75810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2EFEA"/>
                </a:solidFill>
                <a:latin typeface="Calibri"/>
              </a:rPr>
              <a:t>Saved for offline, automatically.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9A958C"/>
                </a:solidFill>
                <a:latin typeface="Calibri"/>
              </a:rPr>
              <a:t>Cached on the first open, before they leave home.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08 / ROUTE</a:t>
            </a:r>
          </a:p>
        </p:txBody>
      </p:sp>
      <p:pic>
        <p:nvPicPr>
          <p:cNvPr id="3" name="Picture 2" descr="WhatsApp Image 2026-09-20 at 7.56.40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159" y="1170432"/>
            <a:ext cx="2370331" cy="5138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37160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Route to the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0" i="0">
                <a:solidFill>
                  <a:srgbClr val="F2EFEA"/>
                </a:solidFill>
                <a:latin typeface="Cambria"/>
              </a:rPr>
              <a:t>12.5 km</a:t>
            </a:r>
          </a:p>
          <a:p>
            <a:pPr algn="l">
              <a:spcAft>
                <a:spcPts val="0"/>
              </a:spcAft>
            </a:pPr>
            <a:r>
              <a:rPr sz="1200" b="0" i="0" spc="100">
                <a:solidFill>
                  <a:srgbClr val="9A958C"/>
                </a:solidFill>
                <a:latin typeface="Consolas"/>
              </a:rPr>
              <a:t>to the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28803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0" i="0">
                <a:solidFill>
                  <a:srgbClr val="F2EFEA"/>
                </a:solidFill>
                <a:latin typeface="Cambria"/>
              </a:rPr>
              <a:t>27 min</a:t>
            </a:r>
          </a:p>
          <a:p>
            <a:pPr algn="l">
              <a:spcAft>
                <a:spcPts val="0"/>
              </a:spcAft>
            </a:pPr>
            <a:r>
              <a:rPr sz="1200" b="0" i="0" spc="100">
                <a:solidFill>
                  <a:srgbClr val="9A958C"/>
                </a:solidFill>
                <a:latin typeface="Consolas"/>
              </a:rPr>
              <a:t>estimated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A958C"/>
                </a:solidFill>
                <a:latin typeface="Calibri"/>
              </a:rPr>
              <a:t>Routed to the exact 3.8 m square, not to the locality. Amazon Location Routes v2, called from Lambda.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09 / OFFLINE</a:t>
            </a:r>
          </a:p>
        </p:txBody>
      </p:sp>
      <p:pic>
        <p:nvPicPr>
          <p:cNvPr id="3" name="Picture 2" descr="WhatsApp Image 2026-09-20 at 7.56.40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255" y="457200"/>
            <a:ext cx="2741486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69164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9A958C"/>
                </a:solidFill>
                <a:latin typeface="Cambria"/>
              </a:rPr>
              <a:t>Then the signal drops.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0" i="0">
                <a:solidFill>
                  <a:srgbClr val="F2EFEA"/>
                </a:solidFill>
                <a:latin typeface="Cambria"/>
              </a:rPr>
              <a:t>Still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9A958C"/>
                </a:solidFill>
                <a:latin typeface="Calibri"/>
              </a:rPr>
              <a:t>Streets, the route, their own position, and the distance to the door.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343400"/>
            <a:ext cx="3063240" cy="91440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5A3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02082" bIns="202082"/>
          <a:lstStyle/>
          <a:p>
            <a:pPr algn="l">
              <a:spcAft>
                <a:spcPts val="7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YOU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EFEA"/>
                </a:solidFill>
                <a:latin typeface="Consolas"/>
              </a:rPr>
              <a:t>4P3 K2M3 LT8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59" y="4343400"/>
            <a:ext cx="3063240" cy="91440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5A3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02082" bIns="202082"/>
          <a:lstStyle/>
          <a:p>
            <a:pPr algn="l">
              <a:spcAft>
                <a:spcPts val="7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DOOR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EFEA"/>
                </a:solidFill>
                <a:latin typeface="Consolas"/>
              </a:rPr>
              <a:t>4P3 KCJ6 T8P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F9E6E"/>
                </a:solidFill>
                <a:latin typeface="Calibri"/>
              </a:rPr>
              <a:t>7.0 km away, with no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533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35F59"/>
                </a:solidFill>
                <a:latin typeface="Calibri"/>
              </a:rPr>
              <a:t>Streets © OpenStreetMap contributors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10 / REVOCATION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68919" y="457200"/>
            <a:ext cx="3145536" cy="347472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9525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 spc="60">
                <a:solidFill>
                  <a:srgbClr val="0B0B0C"/>
                </a:solidFill>
                <a:latin typeface="Calibri"/>
              </a:rPr>
              <a:t>LIVE  —  hold to revoke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And you can take it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508760" cy="603504"/>
          </a:xfrm>
          <a:prstGeom prst="roundRect">
            <a:avLst>
              <a:gd name="adj" fmla="val 500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2EFEA"/>
                </a:solidFill>
                <a:latin typeface="Calibri"/>
              </a:rPr>
              <a:t>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35F59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487168"/>
            <a:ext cx="1389888" cy="603504"/>
          </a:xfrm>
          <a:prstGeom prst="roundRect">
            <a:avLst>
              <a:gd name="adj" fmla="val 500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2EFEA"/>
                </a:solidFill>
                <a:latin typeface="Calibri"/>
              </a:rPr>
              <a:t>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35F59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3168" y="2487168"/>
            <a:ext cx="1627632" cy="603504"/>
          </a:xfrm>
          <a:prstGeom prst="roundRect">
            <a:avLst>
              <a:gd name="adj" fmla="val 500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2EFEA"/>
                </a:solidFill>
                <a:latin typeface="Calibri"/>
              </a:rPr>
              <a:t>Revoke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35F59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487168"/>
            <a:ext cx="1984248" cy="603504"/>
          </a:xfrm>
          <a:prstGeom prst="roundRect">
            <a:avLst>
              <a:gd name="adj" fmla="val 50000"/>
            </a:avLst>
          </a:prstGeom>
          <a:solidFill>
            <a:srgbClr val="1C1511"/>
          </a:solidFill>
          <a:ln w="9525">
            <a:solidFill>
              <a:srgbClr val="5A3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F9E6E"/>
                </a:solidFill>
                <a:latin typeface="Calibri"/>
              </a:rPr>
              <a:t>Dead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84448"/>
            <a:ext cx="10637215" cy="237744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9184" rIns="329184" tIns="279806" bIns="279806"/>
          <a:lstStyle/>
          <a:p>
            <a:pPr algn="l">
              <a:spcAft>
                <a:spcPts val="1600"/>
              </a:spcAft>
            </a:pPr>
            <a:r>
              <a:rPr sz="1000" b="1" i="0" spc="160">
                <a:solidFill>
                  <a:srgbClr val="E07A3F"/>
                </a:solidFill>
                <a:latin typeface="Consolas"/>
              </a:rPr>
              <a:t>LINK STATUS</a:t>
            </a:r>
          </a:p>
          <a:p>
            <a:pPr algn="l">
              <a:spcAft>
                <a:spcPts val="1400"/>
              </a:spcAft>
            </a:pPr>
            <a:r>
              <a:rPr sz="4000" b="0" i="0">
                <a:solidFill>
                  <a:srgbClr val="F2EFEA"/>
                </a:solidFill>
                <a:latin typeface="Cambria"/>
              </a:rPr>
              <a:t>Link ended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A958C"/>
                </a:solidFill>
                <a:latin typeface="Calibri"/>
              </a:rPr>
              <a:t>The receiver's page dies on the next refresh. Nothing to uninstall, nothing to ask for back. The whole consent loop fits on one screen.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11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F2EFEA"/>
                </a:solidFill>
                <a:latin typeface="Cambria"/>
              </a:rPr>
              <a:t>Eight AWS services, one SAM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920240" cy="658368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EFEA"/>
                </a:solidFill>
                <a:latin typeface="Calibri"/>
              </a:rPr>
              <a:t>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956816"/>
            <a:ext cx="210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35F59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783080"/>
            <a:ext cx="1920240" cy="658368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EFEA"/>
                </a:solidFill>
                <a:latin typeface="Calibri"/>
              </a:rPr>
              <a:t>API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1956816"/>
            <a:ext cx="210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35F59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8344" y="1783080"/>
            <a:ext cx="1920240" cy="658368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EFEA"/>
                </a:solidFill>
                <a:latin typeface="Calibri"/>
              </a:rPr>
              <a:t>Lambda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8584" y="1956816"/>
            <a:ext cx="210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35F59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8896" y="1783080"/>
            <a:ext cx="1920240" cy="658368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EFEA"/>
                </a:solidFill>
                <a:latin typeface="Calibri"/>
              </a:rPr>
              <a:t>DynamoDB +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1956816"/>
            <a:ext cx="210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35F59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9448" y="1783080"/>
            <a:ext cx="1920240" cy="658368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EFEA"/>
                </a:solidFill>
                <a:latin typeface="Calibri"/>
              </a:rPr>
              <a:t>Location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88920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FRONTEND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React 19 + Vite. AWS Amplify Hosting, CDN-delivered single-page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693" y="2788920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API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API Gateway HTTP API. Cognito JWT authorizer on every owner route, CORS locked to the deployed origin.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788920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COMPUTE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One Lambda, Node 22. Computes the DIGIPIN server-side, validates every input at the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6601" y="2788920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DATA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DynamoDB: Cards, Shares (GSI byCard), access log, TTL on expired shares.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62272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STORAGE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S3 private bucket. Door photos behind 5-minute pre-signed URLs; cached street data per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693" y="4462272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MAPS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Amazon Location. Vector tiles via a restricted browser key, political-view=IND; Routes v2 from Lambda.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4462272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OPS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CloudWatch logs. One AWS SAM template, one command to deploy.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6601" y="4462272"/>
            <a:ext cx="2487853" cy="1536192"/>
          </a:xfrm>
          <a:prstGeom prst="roundRect">
            <a:avLst>
              <a:gd name="adj" fmla="val 3500"/>
            </a:avLst>
          </a:prstGeom>
          <a:solidFill>
            <a:srgbClr val="1C1511"/>
          </a:solidFill>
          <a:ln w="9525">
            <a:solidFill>
              <a:srgbClr val="5A3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6537" bIns="186537"/>
          <a:lstStyle/>
          <a:p>
            <a:pPr algn="l">
              <a:spcAft>
                <a:spcPts val="1000"/>
              </a:spcAft>
            </a:pPr>
            <a:r>
              <a:rPr sz="950" b="1" i="0" spc="160">
                <a:solidFill>
                  <a:srgbClr val="E07A3F"/>
                </a:solidFill>
                <a:latin typeface="Consolas"/>
              </a:rPr>
              <a:t>REGION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A958C"/>
                </a:solidFill>
                <a:latin typeface="Calibri"/>
              </a:rPr>
              <a:t>ap-south-1, Mumbai.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12 / HOW IT WORKS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Offline, in one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514600"/>
            <a:ext cx="2487853" cy="192024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7627" bIns="217627"/>
          <a:lstStyle/>
          <a:p>
            <a:pPr algn="l">
              <a:spcAft>
                <a:spcPts val="1400"/>
              </a:spcAft>
            </a:pPr>
            <a:r>
              <a:rPr sz="1100" b="1" i="0" spc="120">
                <a:solidFill>
                  <a:srgbClr val="E07A3F"/>
                </a:solidFill>
                <a:latin typeface="Consolas"/>
              </a:rPr>
              <a:t>01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0" i="0">
                <a:solidFill>
                  <a:srgbClr val="F2EFEA"/>
                </a:solidFill>
                <a:latin typeface="Calibri"/>
              </a:rPr>
              <a:t>Lambda fetches the streets around the door once from OpenStreetMap.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693" y="2514600"/>
            <a:ext cx="2487853" cy="192024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7627" bIns="217627"/>
          <a:lstStyle/>
          <a:p>
            <a:pPr algn="l">
              <a:spcAft>
                <a:spcPts val="1400"/>
              </a:spcAft>
            </a:pPr>
            <a:r>
              <a:rPr sz="1100" b="1" i="0" spc="120">
                <a:solidFill>
                  <a:srgbClr val="E07A3F"/>
                </a:solidFill>
                <a:latin typeface="Consolas"/>
              </a:rPr>
              <a:t>02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0" i="0">
                <a:solidFill>
                  <a:srgbClr val="F2EFEA"/>
                </a:solidFill>
                <a:latin typeface="Calibri"/>
              </a:rPr>
              <a:t>Stores that slice in Amazon S3.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2514600"/>
            <a:ext cx="2487853" cy="192024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7627" bIns="217627"/>
          <a:lstStyle/>
          <a:p>
            <a:pPr algn="l">
              <a:spcAft>
                <a:spcPts val="1400"/>
              </a:spcAft>
            </a:pPr>
            <a:r>
              <a:rPr sz="1100" b="1" i="0" spc="120">
                <a:solidFill>
                  <a:srgbClr val="E07A3F"/>
                </a:solidFill>
                <a:latin typeface="Consolas"/>
              </a:rPr>
              <a:t>03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0" i="0">
                <a:solidFill>
                  <a:srgbClr val="F2EFEA"/>
                </a:solidFill>
                <a:latin typeface="Calibri"/>
              </a:rPr>
              <a:t>The receiver's browser caches it on first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26601" y="2514600"/>
            <a:ext cx="2487853" cy="192024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7627" bIns="217627"/>
          <a:lstStyle/>
          <a:p>
            <a:pPr algn="l">
              <a:spcAft>
                <a:spcPts val="1400"/>
              </a:spcAft>
            </a:pPr>
            <a:r>
              <a:rPr sz="1100" b="1" i="0" spc="120">
                <a:solidFill>
                  <a:srgbClr val="E07A3F"/>
                </a:solidFill>
                <a:latin typeface="Consolas"/>
              </a:rPr>
              <a:t>04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0" i="0">
                <a:solidFill>
                  <a:srgbClr val="F2EFEA"/>
                </a:solidFill>
                <a:latin typeface="Calibri"/>
              </a:rPr>
              <a:t>A service worker serves it with no network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2EFEA"/>
                </a:solidFill>
                <a:latin typeface="Cambria"/>
              </a:rPr>
              <a:t>One fetch per card. Not per visitor.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35F59"/>
                </a:solidFill>
                <a:latin typeface="Calibri"/>
              </a:rPr>
              <a:t>Which is why it costs almost nothing to run, and why it still works in a basement.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13 / 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F2EFEA"/>
                </a:solidFill>
                <a:latin typeface="Cambria"/>
              </a:rPr>
              <a:t>Two silent failures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514600"/>
            <a:ext cx="5190591" cy="237744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264261" bIns="264261"/>
          <a:lstStyle/>
          <a:p>
            <a:pPr algn="l">
              <a:spcAft>
                <a:spcPts val="1600"/>
              </a:spcAft>
            </a:pPr>
            <a:r>
              <a:rPr sz="1000" b="1" i="0" spc="160">
                <a:solidFill>
                  <a:srgbClr val="E07A3F"/>
                </a:solidFill>
                <a:latin typeface="Consolas"/>
              </a:rPr>
              <a:t>AWS SAM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9A958C"/>
                </a:solidFill>
                <a:latin typeface="Calibri"/>
              </a:rPr>
              <a:t>SAM silently drops your CORS config if you build AllowOrigins with an !If — and sam validate still passes. The API came up with no CORS, and no error anywhere.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3863" y="2514600"/>
            <a:ext cx="5190591" cy="2377440"/>
          </a:xfrm>
          <a:prstGeom prst="roundRect">
            <a:avLst>
              <a:gd name="adj" fmla="val 3500"/>
            </a:avLst>
          </a:prstGeom>
          <a:solidFill>
            <a:srgbClr val="151416"/>
          </a:solidFill>
          <a:ln w="9525">
            <a:solidFill>
              <a:srgbClr val="2A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264261" bIns="264261"/>
          <a:lstStyle/>
          <a:p>
            <a:pPr algn="l">
              <a:spcAft>
                <a:spcPts val="1600"/>
              </a:spcAft>
            </a:pPr>
            <a:r>
              <a:rPr sz="1000" b="1" i="0" spc="160">
                <a:solidFill>
                  <a:srgbClr val="E07A3F"/>
                </a:solidFill>
                <a:latin typeface="Consolas"/>
              </a:rPr>
              <a:t>MAPLIBRE + VITE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9A958C"/>
                </a:solidFill>
                <a:latin typeface="Calibri"/>
              </a:rPr>
              <a:t>MapLibre's worker breaks under Vite's pre-bundling. The map style never finishes loading, and nothing is thrown.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35F59"/>
                </a:solidFill>
                <a:latin typeface="Calibri"/>
              </a:rPr>
              <a:t>Both cost us hours. Both are written down in the repo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07A3F"/>
                </a:solidFill>
                <a:latin typeface="Consolas"/>
              </a:rPr>
              <a:t>14 / DIGILEASE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9144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7600" b="0" i="0">
                <a:solidFill>
                  <a:srgbClr val="F2EFEA"/>
                </a:solidFill>
                <a:latin typeface="Cambria"/>
              </a:rPr>
              <a:t>DigiLease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9A958C"/>
                </a:solidFill>
                <a:latin typeface="Calibri"/>
              </a:rPr>
              <a:t>An address you can hand over, and take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F9E6E"/>
                </a:solidFill>
                <a:latin typeface="Consolas"/>
              </a:rPr>
              <a:t>main.d109k3dqf4r860.amplifyapp.com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35F59"/>
                </a:solidFill>
                <a:latin typeface="Calibri"/>
              </a:rPr>
              <a:t>Built on India Post's DIGIPIN  ·  Apache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